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E2A1F"/>
                </a:solidFill>
                <a:latin typeface="Arial"/>
              </a:defRPr>
            </a:pPr>
            <a:r>
              <a:rPr sz="1600" b="0" i="0" u="none" strike="noStrike">
                <a:solidFill>
                  <a:srgbClr val="0E2A1F"/>
                </a:solidFill>
                <a:latin typeface="Arial"/>
              </a:rPr>
              <a:t>Автоматические тесты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Тестов пройдено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026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Модульные тесты приложения</c:v>
                  </c:pt>
                  <c:pt idx="1">
                    <c:v>Правила безопасности Firestore</c:v>
                  </c:pt>
                  <c:pt idx="2">
                    <c:v>Тесты веб-панели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38</c:v>
                </c:pt>
                <c:pt idx="2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026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6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Меня зовут Веников Иван Николаевич. Тема моего проекта — интернет-магазин продуктов «Нектар»: мобильное приложение на Flutter и веб-панель управления на Firebase.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раскрывает шесть профессиональных компетенций модуля ПМ 01. Дальше по каждой покажу, что именно сделано.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ПК 1.1: по ТЗ (Приложение А) разработаны алгоритмы авторизации и оформления заказа.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ТЗ описывает назначение, роли, функции, требования к данным и интерфейсу. Из него выведены все алгоритмы.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Если сохранённого сеанса нет, показываются приветствие и вход. После проверки в Firebase Authentication читается профиль и роль; удалённый пользователь выходит с сообщением.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Оформление заказа — одна транзакция Firestore. Цены берутся из базы, остатки списываются, заказ создаётся со статусом new. При любой ошибке ничего не сохраняется.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ПК 1.2: реализованы модули мобильного приложения и веб-панели.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показывает переходы между экранами: загрузка, приветствие, вход и регистрация, главная навигация из четырёх разделов.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Вход по логину или email, регистрация с проверкой полей, восстановление пароля письмом, понятные сообщения об ошибках.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Корзина, окно оформления с адресом, временем и оплатой, промокод SALE10, подтверждение заказа.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ПК 1.3: статический анализатор, эмуляторы Firebase, инструменты разработчика.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flutter analyze без замечаний, все 78 модульных тестов проходят.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Правила Firestore проверяются на локальном эмуляторе: 38 тестов правил и 21 тест веб-панели.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Блоки try/catch в сервисах, собственное исключение DatabaseOperationException, вывод диагностики через debugPrint. Валидаторы проверяют ввод до записи в базу.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ПК 1.4: ручное функциональное тестирование по ролям и автоматизированные тесты.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Б: сценарий и результаты испытаний. Ручное функциональное тестирование по ролям и три набора автотестов.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роль видит только свои разделы; сервер дополнительно защищён правилами Firestore.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автоматические тесты и все тест-кейсы Приложения Б пройдены.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ПК 1.5: бизнес-логика вынесена из экранов в чистые функции, выполнена оптимизация запросов и пакетных операций.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Расчёты и правила вынесены в каталог utils как чистые функции: их можно проверять тестами отдельно от интерфейса.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Транзакции для целостности, пакетные операции по 400 документов, простые запросы без составных индексов, сортировка на клиенте.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ПК 1.6: мобильное приложение на Flutter для Android и iOS и веб-панель.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Интерфейс мобильного приложения: магазин, карточка товара, профиль и раздел курьера.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Веб-панель на JavaScript и Firebase Web SDK: дашборд, товары, категории, промокоды, заказы, пользователи.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запускается видео — запись экрана работы приложения: вход, каталог, оформление заказа, веб-панель.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25-1.mp4"/><Relationship Id="rId2" Type="http://schemas.microsoft.com/office/2007/relationships/media" Target="../media/media-25-1.mp4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498080" y="-1463040"/>
            <a:ext cx="6583680" cy="658368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457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Министерство науки и высшего образования Российской Федерации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Российский экономический университет имени Г.В. Плеханова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Московский приборостроительный техникум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17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ПМ 01. Разработка модулей программного обеспечения для компьютерных систем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Нектар</a:t>
            </a:r>
            <a:endParaRPr lang="en-US" sz="7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00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WEB- и мобильного приложения для интернет-магазина продуктов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7548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Веников И.Н., группа П-7-23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Парамонова Е.М.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 09.02.07 «Информационные системы и программирование»</a:t>
            </a:r>
            <a:endParaRPr lang="en-US" sz="1600" dirty="0"/>
          </a:p>
        </p:txBody>
      </p:sp>
      <p:pic>
        <p:nvPicPr>
          <p:cNvPr id="9" name="Image 0" descr="a/p_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1920240" cy="4639461"/>
          </a:xfrm>
          <a:prstGeom prst="rect">
            <a:avLst/>
          </a:prstGeom>
        </p:spPr>
      </p:pic>
      <p:pic>
        <p:nvPicPr>
          <p:cNvPr id="10" name="Image 1" descr="a/p_sh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463040"/>
            <a:ext cx="1920240" cy="4639461"/>
          </a:xfrm>
          <a:prstGeom prst="rect">
            <a:avLst/>
          </a:prstGeom>
        </p:spPr>
      </p:pic>
      <p:pic>
        <p:nvPicPr>
          <p:cNvPr id="11" name="Image 2" descr="a/p_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920240"/>
            <a:ext cx="1463040" cy="3534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Профессиональные компетенции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69164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 1.1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Формировать алгоритмы разработки программных модулей в соответствии с техническим заданием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69164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262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 1.2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Разрабатывать программные модули в соответствии с техническим заданием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5320" y="169164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 1.3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560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Выполнять отладку программных модулей с использованием специализированных программных средств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388620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411480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 1.4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Выполнять тестирование программных модулей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297680" y="388620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411480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539496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 1.5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4526280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Осуществлять рефакторинг и оптимизацию программного кода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8046720" y="3886200"/>
            <a:ext cx="3520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275320" y="4114800"/>
            <a:ext cx="731520" cy="7315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75320" y="4114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914400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 1.6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8275320" y="4983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Разрабатывать модули программного обеспечения для мобильных платформ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80960" y="640080"/>
            <a:ext cx="5120640" cy="512064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280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</a:t>
            </a:r>
            <a:endParaRPr lang="en-US" sz="1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Формировать алгоритмы разработки программных модулей в соответствии с техническим заданием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6517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Алгоритмы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594360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9" name="Text 6">
            <a:hlinkClick r:id="rId1" tooltip="К списку компетенций" action="ppaction://hlinksldjump"/>
          </p:cNvPr>
          <p:cNvSpPr txBox="1"/>
          <p:nvPr/>
        </p:nvSpPr>
        <p:spPr>
          <a:xfrm>
            <a:off x="731520" y="5943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писку компетенций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Все ПК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 А. Техническое задание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пользователей: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покупатель, курьер,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менеджер, администратор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600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приложения: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(Flutter)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веб-панель (JS)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79476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931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892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291840" y="3794760"/>
            <a:ext cx="2560320" cy="2148840"/>
          </a:xfrm>
          <a:prstGeom prst="roundRect">
            <a:avLst>
              <a:gd name="adj" fmla="val 638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20440" y="3931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4892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статусов заказа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«Новый» до «Доставлен»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Функциональная схема по ролям</a:t>
            </a:r>
            <a:endParaRPr lang="en-US" sz="1600" dirty="0"/>
          </a:p>
        </p:txBody>
      </p:sp>
      <p:pic>
        <p:nvPicPr>
          <p:cNvPr id="19" name="Image 0" descr="../pz/fu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828800"/>
            <a:ext cx="5303520" cy="45245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работы авторизации в мобильном приложении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E2A1F"/>
          </a:solidFill>
          <a:ln w="19050">
            <a:solidFill>
              <a:srgbClr val="0E2A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приложения, экран загрузки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0" y="1417320"/>
            <a:ext cx="2560320" cy="1188720"/>
          </a:xfrm>
          <a:prstGeom prst="diamond">
            <a:avLst/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94760" y="1417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Сеанс сохранён?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приветствия (3 слайда)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60120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входа или регистрации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926080" y="2011680"/>
            <a:ext cx="54864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035040" y="2011680"/>
            <a:ext cx="54864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5852160" y="1691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61120" y="2011680"/>
            <a:ext cx="64008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601200" y="34290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9264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Authentication: email и пароль, Google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789920" y="2468880"/>
            <a:ext cx="0" cy="96012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492240" y="3291840"/>
            <a:ext cx="2560320" cy="1188720"/>
          </a:xfrm>
          <a:prstGeom prst="diamond">
            <a:avLst/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12280" y="3291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найден и не удалён?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 flipH="1">
            <a:off x="9052560" y="3886200"/>
            <a:ext cx="54864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566160" y="34290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65760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роли по документу users/{uid}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 flipH="1">
            <a:off x="5943600" y="3886200"/>
            <a:ext cx="54864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5760720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54880" y="2606040"/>
            <a:ext cx="0" cy="82296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4800600" y="2651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48640" y="34290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B8F25B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по роли: покупатель, курьер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 flipH="1">
            <a:off x="2926080" y="3886200"/>
            <a:ext cx="64008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583680" y="52578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675120" y="5257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и сообщение об ошибке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772400" y="4480560"/>
            <a:ext cx="0" cy="77724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7818120" y="4526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03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и менеджер при входе в мобильное приложение получают сообщение: используйте веб-панель.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 оформления заказа в мобильном приложении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E2A1F"/>
          </a:solidFill>
          <a:ln w="19050">
            <a:solidFill>
              <a:srgbClr val="0E2A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Корзина: товары и количество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6616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Адрес, время доставки, способ оплаты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Промокод (необязательно)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601200" y="155448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1554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«Разместить заказ»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926080" y="2011680"/>
            <a:ext cx="64008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943600" y="2011680"/>
            <a:ext cx="64008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961120" y="2011680"/>
            <a:ext cx="64008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601200" y="34290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9264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 Firestore: чтение товаров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789920" y="2468880"/>
            <a:ext cx="0" cy="96012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492240" y="3291840"/>
            <a:ext cx="2560320" cy="1188720"/>
          </a:xfrm>
          <a:prstGeom prst="diamond">
            <a:avLst/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12280" y="329184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 есть, остатка хватает?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 flipH="1">
            <a:off x="9052560" y="3886200"/>
            <a:ext cx="54864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566160" y="34290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Списание остатков, цены из базы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 flipH="1">
            <a:off x="5943600" y="3886200"/>
            <a:ext cx="54864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5760720" y="3566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34290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заказа «new», счётчик промокода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 flipH="1">
            <a:off x="2926080" y="3886200"/>
            <a:ext cx="640080" cy="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48640" y="52578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B8F25B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5257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«Заказ оформлен!»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737360" y="4343400"/>
            <a:ext cx="0" cy="91440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583680" y="525780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FBE9E7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675120" y="5257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Откат: ничего не сохранено, сообщение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7772400" y="4480560"/>
            <a:ext cx="0" cy="77724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7818120" y="45262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3566160" y="5303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Статусы: new → processing → assigned → delivering → delivered; отмена возвращает товары на склад.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80960" y="640080"/>
            <a:ext cx="5120640" cy="512064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280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1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Разрабатывать программные модули в соответствии с техническим заданием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6517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Разработка модулей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594360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9" name="Text 6">
            <a:hlinkClick r:id="rId1" tooltip="К списку компетенций" action="ppaction://hlinksldjump"/>
          </p:cNvPr>
          <p:cNvSpPr txBox="1"/>
          <p:nvPr/>
        </p:nvSpPr>
        <p:spPr>
          <a:xfrm>
            <a:off x="731520" y="5943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писку компетенций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Все ПК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пользовательского интерфейса мобильного приложения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../pz/ui_mobil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200257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46634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сеанса нет — приветствие и вход; если сохранён — сразу в приложение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297680" y="393192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2628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Навигация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46634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Нижняя панель покупателя: Магазин, Каталог, Корзина, Профиль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46720" y="393192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75320" y="4114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8275320" y="46634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Курьер видит раздел «Доставка», администратор и менеджер работают в веб-панели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 авторизации и регистрации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0" descr="a/p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835549" cy="4434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65760" y="5870448"/>
            <a:ext cx="2201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логину или email</a:t>
            </a:r>
            <a:endParaRPr lang="en-US" sz="1300" dirty="0"/>
          </a:p>
        </p:txBody>
      </p:sp>
      <p:pic>
        <p:nvPicPr>
          <p:cNvPr id="8" name="Image 1" descr="a/p_register_fi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870" y="1325880"/>
            <a:ext cx="1835549" cy="44348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441990" y="5870448"/>
            <a:ext cx="2201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с валидацией</a:t>
            </a:r>
            <a:endParaRPr lang="en-US" sz="1300" dirty="0"/>
          </a:p>
        </p:txBody>
      </p:sp>
      <p:pic>
        <p:nvPicPr>
          <p:cNvPr id="10" name="Image 2" descr="a/p_forgot_s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101" y="1325880"/>
            <a:ext cx="1835549" cy="44348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518221" y="5870448"/>
            <a:ext cx="2201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пароля</a:t>
            </a:r>
            <a:endParaRPr lang="en-US" sz="1300" dirty="0"/>
          </a:p>
        </p:txBody>
      </p:sp>
      <p:pic>
        <p:nvPicPr>
          <p:cNvPr id="12" name="Image 3" descr="a/p_login_er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331" y="1325880"/>
            <a:ext cx="1835549" cy="443484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594451" y="5870448"/>
            <a:ext cx="2201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 об ошибке входа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 оформления заказа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1417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Товары добавляются из карточки, количество ограничено остатком и числом 99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606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Адрес, время доставки и способ оплаты выбираются в окне оформления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3794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Промокод даёт скидку 1–99 %, доставка бесплатна от 1500 ₽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502920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5029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4983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 списывает остатки и создаёт заказ</a:t>
            </a:r>
            <a:endParaRPr lang="en-US" sz="1600" dirty="0"/>
          </a:p>
        </p:txBody>
      </p:sp>
      <p:pic>
        <p:nvPicPr>
          <p:cNvPr id="18" name="Image 0" descr="a/p_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1854472" cy="44805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120640" y="5943600"/>
            <a:ext cx="240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Корзина</a:t>
            </a:r>
            <a:endParaRPr lang="en-US" sz="1300" dirty="0"/>
          </a:p>
        </p:txBody>
      </p:sp>
      <p:pic>
        <p:nvPicPr>
          <p:cNvPr id="20" name="Image 1" descr="a/p_checkout_prom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352" y="1371600"/>
            <a:ext cx="1854472" cy="44805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78032" y="5943600"/>
            <a:ext cx="240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с промокодом</a:t>
            </a:r>
            <a:endParaRPr lang="en-US" sz="1300" dirty="0"/>
          </a:p>
        </p:txBody>
      </p:sp>
      <p:pic>
        <p:nvPicPr>
          <p:cNvPr id="22" name="Image 2" descr="a/p_order_suc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744" y="1371600"/>
            <a:ext cx="1854472" cy="44805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35424" y="5943600"/>
            <a:ext cx="240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 оформлен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80960" y="640080"/>
            <a:ext cx="5120640" cy="512064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280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</a:t>
            </a:r>
            <a:endParaRPr lang="en-US" sz="1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Выполнять отладку программных модулей с использованием специализированных программных средств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6517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Отладка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594360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9" name="Text 6">
            <a:hlinkClick r:id="rId1" tooltip="К списку компетенций" action="ppaction://hlinksldjump"/>
          </p:cNvPr>
          <p:cNvSpPr txBox="1"/>
          <p:nvPr/>
        </p:nvSpPr>
        <p:spPr>
          <a:xfrm>
            <a:off x="731520" y="5943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писку компетенций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Все ПК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Отладка: анализатор и модульные тесты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../pz/t_analy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223666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Анализатор Dart (flutter analyze) проверяет правила flutter_lints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 проверяют валидаторы, корзину, расчёт доставки, модели, сервис базы данных на имитации Firestore, логику курьера и локализацию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046720" y="146304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0E2A1F"/>
          </a:solidFill>
          <a:ln w="12700">
            <a:solidFill>
              <a:srgbClr val="0E2A1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46720" y="1920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90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35661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модульных тестов приложения пройдены,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замечаний анализатора нет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Отладка правил безопасности на эмуляторе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../pz/t_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132320" cy="247943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11480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Локальные эмуляторы Auth и Firestore не затрагивают боевую базу данных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тестов правил подтверждают разграничение прав ролей, 21 тест — валидацию веб-панели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доступа видны сразу, до развёртывания правил</a:t>
            </a:r>
            <a:endParaRPr lang="en-US" sz="1600" dirty="0"/>
          </a:p>
        </p:txBody>
      </p:sp>
      <p:pic>
        <p:nvPicPr>
          <p:cNvPr id="8" name="Image 1" descr="a/p_login_er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371600"/>
            <a:ext cx="1737360" cy="4197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авторизации перехватывается и показывается понятным текстом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Защитное программирование и логирование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6" name="Image 0" descr="../pz/c_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217920" cy="39447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132320" y="1463040"/>
            <a:ext cx="4480560" cy="1051560"/>
          </a:xfrm>
          <a:prstGeom prst="roundRect">
            <a:avLst>
              <a:gd name="adj" fmla="val 1304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60920" y="1572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try…catch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36092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проверки профиля после входа не роняет приложение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132320" y="2651760"/>
            <a:ext cx="4480560" cy="1051560"/>
          </a:xfrm>
          <a:prstGeom prst="roundRect">
            <a:avLst>
              <a:gd name="adj" fmla="val 1304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60920" y="2761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debugPrint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360920" y="3154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сбоев пишется в журнал отладки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132320" y="3840480"/>
            <a:ext cx="4480560" cy="1051560"/>
          </a:xfrm>
          <a:prstGeom prst="roundRect">
            <a:avLst>
              <a:gd name="adj" fmla="val 1304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60920" y="39502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Исключения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360920" y="4343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DatabaseOperationException несёт понятное пользователю сообщение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132320" y="5029200"/>
            <a:ext cx="4480560" cy="1051560"/>
          </a:xfrm>
          <a:prstGeom prst="roundRect">
            <a:avLst>
              <a:gd name="adj" fmla="val 1304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60920" y="5138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Валидаторы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7360920" y="55321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Длина, формат email и телефона проверяются до отправки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80960" y="640080"/>
            <a:ext cx="5120640" cy="512064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280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</a:t>
            </a:r>
            <a:endParaRPr lang="en-US" sz="1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Выполнять тестирование программных модулей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6517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594360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9" name="Text 6">
            <a:hlinkClick r:id="rId1" tooltip="К списку компетенций" action="ppaction://hlinksldjump"/>
          </p:cNvPr>
          <p:cNvSpPr txBox="1"/>
          <p:nvPr/>
        </p:nvSpPr>
        <p:spPr>
          <a:xfrm>
            <a:off x="731520" y="5943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писку компетенций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Все ПК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тестирования программного комплекса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480560" y="1463040"/>
            <a:ext cx="3200400" cy="822960"/>
          </a:xfrm>
          <a:prstGeom prst="roundRect">
            <a:avLst>
              <a:gd name="adj" fmla="val 13333"/>
            </a:avLst>
          </a:prstGeom>
          <a:solidFill>
            <a:srgbClr val="0E2A1F"/>
          </a:solidFill>
          <a:ln w="19050">
            <a:solidFill>
              <a:srgbClr val="0E2A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0" y="1463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«Нектара»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280160" y="292608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1600" y="2926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Ручное: функциональное по ролям, позитивное и негативное, «чёрный ящик»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040880" y="2926080"/>
            <a:ext cx="3840480" cy="1097280"/>
          </a:xfrm>
          <a:prstGeom prst="roundRect">
            <a:avLst>
              <a:gd name="adj" fmla="val 10000"/>
            </a:avLst>
          </a:prstGeom>
          <a:solidFill>
            <a:srgbClr val="EAF4E4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0" y="2926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Автоматизированное: модульные тесты, правила безопасности, веб-панель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 flipH="1">
            <a:off x="3200400" y="2286000"/>
            <a:ext cx="2880360" cy="64008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080760" y="2286000"/>
            <a:ext cx="2880360" cy="64008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669280" y="4572000"/>
            <a:ext cx="1828800" cy="1554480"/>
          </a:xfrm>
          <a:prstGeom prst="roundRect">
            <a:avLst>
              <a:gd name="adj" fmla="val 8824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0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test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 flipH="1">
            <a:off x="6583680" y="4023360"/>
            <a:ext cx="2377440" cy="54864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680960" y="4572000"/>
            <a:ext cx="1828800" cy="1554480"/>
          </a:xfrm>
          <a:prstGeom prst="roundRect">
            <a:avLst>
              <a:gd name="adj" fmla="val 8824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0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Firestore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 flipH="1">
            <a:off x="8595360" y="4023360"/>
            <a:ext cx="365760" cy="54864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9692640" y="4572000"/>
            <a:ext cx="1828800" cy="1554480"/>
          </a:xfrm>
          <a:prstGeom prst="roundRect">
            <a:avLst>
              <a:gd name="adj" fmla="val 8824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92640" y="4663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24" name="Text 21"/>
          <p:cNvSpPr txBox="1"/>
          <p:nvPr/>
        </p:nvSpPr>
        <p:spPr>
          <a:xfrm>
            <a:off x="9692640" y="5486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веб-панель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961120" y="4023360"/>
            <a:ext cx="1645920" cy="548640"/>
          </a:xfrm>
          <a:prstGeom prst="line">
            <a:avLst/>
          </a:prstGeom>
          <a:noFill/>
          <a:ln w="25400">
            <a:solidFill>
              <a:srgbClr val="163A2A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548640" y="45720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Средства: Flutter 3, эмуляторы Firebase, Chrome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Тест-кейсы Приложения Б проверяют все роли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Тестирование доступа по ролям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  <a:gridCol w="26517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Мобильное приложение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Веб-панель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 в Firestore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входа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Заставка, приветствие, вход, регистрация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форма входа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Чтение индекса логина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Покупатель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Магазин, каталог, корзина, профиль, заказы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Сообщение «Недостаточно прав»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Свои заказы и профиль, создание заказа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Курьер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 «Доставка»: свободные и мои заказы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Сообщение «Недостаточно прав»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Взять и завершить заказ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Менеджер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Сообщение: используйте веб-панель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Дашборд, товары, категории, промокоды, заказы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Каталог и заказы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Сообщение: используйте веб-панель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 разделы, пользователи и роли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доступ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Сводные результаты тестирования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6522"/>
            </a:avLst>
          </a:prstGeom>
          <a:solidFill>
            <a:srgbClr val="0E2A1F"/>
          </a:solidFill>
          <a:ln w="12700">
            <a:solidFill>
              <a:srgbClr val="0E2A1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46720" y="16002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en-US" sz="70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автотестов, ошибок нет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8046720" y="3794760"/>
            <a:ext cx="3566160" cy="2148840"/>
          </a:xfrm>
          <a:prstGeom prst="roundRect">
            <a:avLst>
              <a:gd name="adj" fmla="val 6383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75320" y="3931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Ручные испытания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275320" y="44348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всех ролей проверены по сценарию Приложения Б: тесты пройдены, соответствие ожидаемому результату.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80960" y="640080"/>
            <a:ext cx="5120640" cy="512064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280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endParaRPr lang="en-US" sz="1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Осуществлять рефакторинг и оптимизацию программного кода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6517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Рефакторинг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594360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9" name="Text 6">
            <a:hlinkClick r:id="rId1" tooltip="К списку компетенций" action="ppaction://hlinksldjump"/>
          </p:cNvPr>
          <p:cNvSpPr txBox="1"/>
          <p:nvPr/>
        </p:nvSpPr>
        <p:spPr>
          <a:xfrm>
            <a:off x="731520" y="5943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писку компетенций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Все ПК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Рефакторинг: логика вынесена из экранов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6" name="Image 0" descr="../pz/r_pri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846320" cy="2254416"/>
          </a:xfrm>
          <a:prstGeom prst="rect">
            <a:avLst/>
          </a:prstGeom>
        </p:spPr>
      </p:pic>
      <p:pic>
        <p:nvPicPr>
          <p:cNvPr id="7" name="Image 1" descr="../pz/r_couri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4846320" cy="187202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5852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pricing.dart · courier_orders.dart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5760720" y="1417320"/>
            <a:ext cx="5852160" cy="1417320"/>
          </a:xfrm>
          <a:prstGeom prst="roundRect">
            <a:avLst>
              <a:gd name="adj" fmla="val 9677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89320" y="15270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Чистые функции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989320" y="19659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calculateOrderTotal, calculateDeliveryFee, canStartDelivery, groupCourierOrders не зависят от виджетов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760720" y="3017520"/>
            <a:ext cx="5852160" cy="1417320"/>
          </a:xfrm>
          <a:prstGeom prst="roundRect">
            <a:avLst>
              <a:gd name="adj" fmla="val 9677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89320" y="3127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источник правил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5989320" y="35661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доставки и статусы заказа задаются в одном месте, а не в каждом экране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760720" y="4617720"/>
            <a:ext cx="5852160" cy="1417320"/>
          </a:xfrm>
          <a:prstGeom prst="roundRect">
            <a:avLst>
              <a:gd name="adj" fmla="val 9677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89320" y="47274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Проверяемость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989320" y="5166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функция покрыта модульными тестами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Оптимизация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6" name="Image 0" descr="../pz/r_ba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852160" cy="211082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639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clearNotifications: удаление пакетами по 400 записей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675120" y="1463040"/>
            <a:ext cx="2377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0" y="1600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Пакетные операции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0" y="2286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Массовое удаление идёт батчами не более 400 документов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189720" y="1463040"/>
            <a:ext cx="2377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372600" y="1600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Простые запросы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9372600" y="2286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равенство и whereIn: составные индексы не нужны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75120" y="3794760"/>
            <a:ext cx="2377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Транзакции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0" y="46177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обмен с базой вместо цепочки записей; цены берутся из БД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189720" y="3794760"/>
            <a:ext cx="2377440" cy="2194560"/>
          </a:xfrm>
          <a:prstGeom prst="roundRect">
            <a:avLst>
              <a:gd name="adj" fmla="val 6250"/>
            </a:avLst>
          </a:prstGeom>
          <a:solidFill>
            <a:srgbClr val="EAF4E4"/>
          </a:solidFill>
          <a:ln w="12700">
            <a:solidFill>
              <a:srgbClr val="EAF4E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372600" y="3931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Дубли названий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9372600" y="46177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категории хранится в товаре — списки грузятся быстрее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42976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синхронизируются потоками snapshots в реальном времени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проверяется на клиенте до обращения к базе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80960" y="640080"/>
            <a:ext cx="5120640" cy="512064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280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ПК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</a:t>
            </a:r>
            <a:endParaRPr lang="en-US" sz="1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2062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Разрабатывать модули программного обеспечения для мобильных платформ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6517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Мобильная разработка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5943600"/>
            <a:ext cx="1463040" cy="411480"/>
          </a:xfrm>
          <a:prstGeom prst="roundRect">
            <a:avLst>
              <a:gd name="adj" fmla="val 44444"/>
            </a:avLst>
          </a:prstGeom>
          <a:solidFill>
            <a:srgbClr val="B8F25B"/>
          </a:solidFill>
          <a:ln w="12700">
            <a:solidFill>
              <a:srgbClr val="B8F25B"/>
            </a:solidFill>
            <a:prstDash val="solid"/>
          </a:ln>
        </p:spPr>
      </p:sp>
      <p:sp>
        <p:nvSpPr>
          <p:cNvPr id="9" name="Text 6">
            <a:hlinkClick r:id="rId1" tooltip="К списку компетенций" action="ppaction://hlinksldjump"/>
          </p:cNvPr>
          <p:cNvSpPr txBox="1"/>
          <p:nvPr/>
        </p:nvSpPr>
        <p:spPr>
          <a:xfrm>
            <a:off x="731520" y="5943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E2A1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К списку компетенций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Все ПК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Интерфейс мобильного приложения</a:t>
            </a:r>
            <a:endParaRPr lang="en-US" sz="3200" dirty="0"/>
          </a:p>
        </p:txBody>
      </p:sp>
      <p:pic>
        <p:nvPicPr>
          <p:cNvPr id="4" name="Image 0" descr="a/p_sh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835549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5870448"/>
            <a:ext cx="2201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</a:t>
            </a:r>
            <a:endParaRPr lang="en-US" sz="1300" dirty="0"/>
          </a:p>
        </p:txBody>
      </p:sp>
      <p:pic>
        <p:nvPicPr>
          <p:cNvPr id="6" name="Image 1" descr="a/p_produ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870" y="1325880"/>
            <a:ext cx="1835549" cy="44348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441990" y="5870448"/>
            <a:ext cx="2201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товара</a:t>
            </a:r>
            <a:endParaRPr lang="en-US" sz="1300" dirty="0"/>
          </a:p>
        </p:txBody>
      </p:sp>
      <p:pic>
        <p:nvPicPr>
          <p:cNvPr id="8" name="Image 2" descr="a/p_pro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101" y="1325880"/>
            <a:ext cx="1835549" cy="443484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518221" y="5870448"/>
            <a:ext cx="2201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покупателя</a:t>
            </a:r>
            <a:endParaRPr lang="en-US" sz="1300" dirty="0"/>
          </a:p>
        </p:txBody>
      </p:sp>
      <p:pic>
        <p:nvPicPr>
          <p:cNvPr id="10" name="Image 3" descr="a/p_courier_m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7331" y="1325880"/>
            <a:ext cx="1835549" cy="443484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9594451" y="5870448"/>
            <a:ext cx="22013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курьера</a:t>
            </a:r>
            <a:endParaRPr lang="en-US" sz="1300" dirty="0"/>
          </a:p>
        </p:txBody>
      </p:sp>
      <p:sp>
        <p:nvSpPr>
          <p:cNvPr id="12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Веб-панель администратора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Нектар · Веников И.Н. · П-7-23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6" name="Image 0" descr="a/b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71600"/>
            <a:ext cx="3566160" cy="23446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Дашборд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магазина, выручка, топ товаров</a:t>
            </a:r>
            <a:endParaRPr lang="en-US" sz="1400" dirty="0"/>
          </a:p>
        </p:txBody>
      </p:sp>
      <p:pic>
        <p:nvPicPr>
          <p:cNvPr id="9" name="Image 1" descr="a/b_produ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371600"/>
            <a:ext cx="3566160" cy="23446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Товары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добавление и правка</a:t>
            </a:r>
            <a:endParaRPr lang="en-US" sz="1400" dirty="0"/>
          </a:p>
        </p:txBody>
      </p:sp>
      <p:pic>
        <p:nvPicPr>
          <p:cNvPr id="12" name="Image 2" descr="a/b_or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977640"/>
            <a:ext cx="3566160" cy="234460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Заказы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41605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статуса и назначение курьера</a:t>
            </a:r>
            <a:endParaRPr lang="en-US" sz="1400" dirty="0"/>
          </a:p>
        </p:txBody>
      </p:sp>
      <p:pic>
        <p:nvPicPr>
          <p:cNvPr id="15" name="Image 3" descr="a/b_prom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977640"/>
            <a:ext cx="3566160" cy="234460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48640" y="4937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Промокоды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548640" y="5349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1–99 %, срок действия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работы мобильного приложения</a:t>
            </a:r>
            <a:endParaRPr lang="en-US" sz="3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615288" y="1188720"/>
            <a:ext cx="8961120" cy="504063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49440" y="-914400"/>
            <a:ext cx="7315200" cy="7315200"/>
          </a:xfrm>
          <a:prstGeom prst="ellipse">
            <a:avLst/>
          </a:prstGeom>
          <a:solidFill>
            <a:srgbClr val="163A2A"/>
          </a:solidFill>
          <a:ln w="12700">
            <a:solidFill>
              <a:srgbClr val="163A2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173736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B8F2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внимание!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572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Веников Иван Николаевич, группа П-7-23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Парамонова Е.М.</a:t>
            </a:r>
            <a:endParaRPr lang="en-US" sz="2000" dirty="0"/>
          </a:p>
        </p:txBody>
      </p:sp>
      <p:pic>
        <p:nvPicPr>
          <p:cNvPr id="6" name="Image 0" descr="a/p_order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914400"/>
            <a:ext cx="2377440" cy="57440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Нектар — интернет-магазин продуктов</dc:title>
  <dc:subject>PptxGenJS Presentation</dc:subject>
  <dc:creator>Веников И.Н.</dc:creator>
  <cp:lastModifiedBy>Веников И.Н.</cp:lastModifiedBy>
  <cp:revision>1</cp:revision>
  <dcterms:created xsi:type="dcterms:W3CDTF">2026-10-01T19:43:35Z</dcterms:created>
  <dcterms:modified xsi:type="dcterms:W3CDTF">2026-10-01T19:43:35Z</dcterms:modified>
</cp:coreProperties>
</file>