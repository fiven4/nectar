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Здравствуйте! Меня зовут Веников Иван Николаевич. Тема моего проекта — интернет-магазин продуктов «Нектар»: мобильное приложение на Flutter и веб-панель управления на Firebase.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Нектар — интернет-магазин продуктов: мобильное приложение для покупателей и курьеров и веб-панель для сотрудников магазина. Данные хранятся в облаке Firebase.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Два главных алгоритма: авторизация и оформление заказа. Оформление — одна транзакция Firestore: если что-то не так, ничего не сохраняется.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Вход, регистрация, магазин и каталог. Нижняя панель: Магазин, Каталог, Корзина, Профиль.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Корзина, окно оформления, промокод и подтверждение заказа.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Панель на JavaScript и Firebase: показатели, товары, заказы и промокоды.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Анализатор Dart без замечаний, тесты на эмуляторах Firebase. Ошибки входа показываются понятным текстом.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Ручное тестирование по ролям (Приложение Б) и три набора автоматических тестов: 78, 38 и 21. Все пройдены.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Расчёты вынесены из экранов в чистые функции utils и покрыты тестами. Оптимизация: пакеты по 400 документов, простые запросы, транзакции.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Flutter даёт приложения для Android и iOS из одной кодовой базы. Серверной части нет: всё в Firebase.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Видео: запись экрана. Регистрация нового клиента, заказ, работа администратора в веб-панели и курьера.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Спасибо за внимание! Готов ответить на вопросы.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1-1.mp4"/><Relationship Id="rId2" Type="http://schemas.microsoft.com/office/2007/relationships/media" Target="../media/media-11-1.mp4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98080" y="-1463040"/>
            <a:ext cx="6583680" cy="6583680"/>
          </a:xfrm>
          <a:prstGeom prst="ellipse">
            <a:avLst/>
          </a:prstGeom>
          <a:solidFill>
            <a:srgbClr val="163A2A"/>
          </a:solidFill>
          <a:ln w="12700">
            <a:solidFill>
              <a:srgbClr val="163A2A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640080" y="45720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C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Министерство науки и высшего образования Российской Федерации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9C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Российский экономический университет имени Г.В. Плеханова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9C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Московский приборостроительный техникум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41732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C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ПМ 01. Разработка модулей программного обеспечения для компьютерных систем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01168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0" b="1" dirty="0">
                <a:solidFill>
                  <a:srgbClr val="B8F2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Нектар</a:t>
            </a:r>
            <a:endParaRPr lang="en-US" sz="7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20040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 WEB- и мобильного приложения для интернет-магазина продуктов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4754880"/>
            <a:ext cx="6217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A9C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Выполнил: </a:t>
            </a:r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Веников И.Н., группа П-7-23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A9C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Руководитель: </a:t>
            </a:r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Парамонова Е.М.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A9C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Специальность 09.02.07 «Информационные системы и программирование»</a:t>
            </a:r>
            <a:endParaRPr lang="en-US" sz="1600" dirty="0"/>
          </a:p>
        </p:txBody>
      </p:sp>
      <p:pic>
        <p:nvPicPr>
          <p:cNvPr id="9" name="Image 0" descr="a/p_catalo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005840"/>
            <a:ext cx="1920240" cy="4639461"/>
          </a:xfrm>
          <a:prstGeom prst="rect">
            <a:avLst/>
          </a:prstGeom>
        </p:spPr>
      </p:pic>
      <p:pic>
        <p:nvPicPr>
          <p:cNvPr id="10" name="Image 1" descr="a/p_sh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1463040"/>
            <a:ext cx="1920240" cy="4639461"/>
          </a:xfrm>
          <a:prstGeom prst="rect">
            <a:avLst/>
          </a:prstGeom>
        </p:spPr>
      </p:pic>
      <p:pic>
        <p:nvPicPr>
          <p:cNvPr id="11" name="Image 2" descr="a/p_c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1920240"/>
            <a:ext cx="1463040" cy="353482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 проекте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10149840" y="50292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B8F25B"/>
          </a:solidFill>
          <a:ln w="12700">
            <a:solidFill>
              <a:srgbClr val="B8F25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149840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ПК 1.1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7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Нектар · Веников И.Н. · П-7-23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463040"/>
            <a:ext cx="3566160" cy="1828800"/>
          </a:xfrm>
          <a:prstGeom prst="roundRect">
            <a:avLst>
              <a:gd name="adj" fmla="val 7500"/>
            </a:avLst>
          </a:prstGeom>
          <a:solidFill>
            <a:srgbClr val="EAF4E4"/>
          </a:solidFill>
          <a:ln w="12700">
            <a:solidFill>
              <a:srgbClr val="EAF4E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155448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7000" dirty="0"/>
          </a:p>
        </p:txBody>
      </p:sp>
      <p:sp>
        <p:nvSpPr>
          <p:cNvPr id="10" name="Text 7"/>
          <p:cNvSpPr txBox="1"/>
          <p:nvPr/>
        </p:nvSpPr>
        <p:spPr>
          <a:xfrm>
            <a:off x="2103120" y="155448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приложения: мобильное и веб-панель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297680" y="1463040"/>
            <a:ext cx="3566160" cy="1828800"/>
          </a:xfrm>
          <a:prstGeom prst="roundRect">
            <a:avLst>
              <a:gd name="adj" fmla="val 7500"/>
            </a:avLst>
          </a:prstGeom>
          <a:solidFill>
            <a:srgbClr val="EAF4E4"/>
          </a:solidFill>
          <a:ln w="12700">
            <a:solidFill>
              <a:srgbClr val="EAF4E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72000" y="155448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7000" dirty="0"/>
          </a:p>
        </p:txBody>
      </p:sp>
      <p:sp>
        <p:nvSpPr>
          <p:cNvPr id="13" name="Text 10"/>
          <p:cNvSpPr txBox="1"/>
          <p:nvPr/>
        </p:nvSpPr>
        <p:spPr>
          <a:xfrm>
            <a:off x="5852160" y="155448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роли пользователей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8046720" y="1463040"/>
            <a:ext cx="3566160" cy="1828800"/>
          </a:xfrm>
          <a:prstGeom prst="roundRect">
            <a:avLst>
              <a:gd name="adj" fmla="val 7500"/>
            </a:avLst>
          </a:prstGeom>
          <a:solidFill>
            <a:srgbClr val="EAF4E4"/>
          </a:solidFill>
          <a:ln w="12700">
            <a:solidFill>
              <a:srgbClr val="EAF4E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321040" y="155448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7000" dirty="0"/>
          </a:p>
        </p:txBody>
      </p:sp>
      <p:sp>
        <p:nvSpPr>
          <p:cNvPr id="16" name="Text 13"/>
          <p:cNvSpPr txBox="1"/>
          <p:nvPr/>
        </p:nvSpPr>
        <p:spPr>
          <a:xfrm>
            <a:off x="9601200" y="155448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коллекций в базе данных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48640" y="3657600"/>
            <a:ext cx="2651760" cy="2194560"/>
          </a:xfrm>
          <a:prstGeom prst="roundRect">
            <a:avLst>
              <a:gd name="adj" fmla="val 6250"/>
            </a:avLst>
          </a:prstGeom>
          <a:solidFill>
            <a:srgbClr val="0E2A1F"/>
          </a:solidFill>
          <a:ln w="12700">
            <a:solidFill>
              <a:srgbClr val="0E2A1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3931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8F2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Покупатель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777240" y="45720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каталог, корзина, заказы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3364992" y="3657600"/>
            <a:ext cx="2651760" cy="2194560"/>
          </a:xfrm>
          <a:prstGeom prst="roundRect">
            <a:avLst>
              <a:gd name="adj" fmla="val 6250"/>
            </a:avLst>
          </a:prstGeom>
          <a:solidFill>
            <a:srgbClr val="0E2A1F"/>
          </a:solidFill>
          <a:ln w="12700">
            <a:solidFill>
              <a:srgbClr val="0E2A1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593592" y="3931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8F2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Курьер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3593592" y="45720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берёт и доставляет заказы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181344" y="3657600"/>
            <a:ext cx="2651760" cy="2194560"/>
          </a:xfrm>
          <a:prstGeom prst="roundRect">
            <a:avLst>
              <a:gd name="adj" fmla="val 6250"/>
            </a:avLst>
          </a:prstGeom>
          <a:solidFill>
            <a:srgbClr val="0E2A1F"/>
          </a:solidFill>
          <a:ln w="12700">
            <a:solidFill>
              <a:srgbClr val="0E2A1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9944" y="3931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8F2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Менеджер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6409944" y="45720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товары и заказы в веб-панели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8997696" y="3657600"/>
            <a:ext cx="2651760" cy="2194560"/>
          </a:xfrm>
          <a:prstGeom prst="roundRect">
            <a:avLst>
              <a:gd name="adj" fmla="val 6250"/>
            </a:avLst>
          </a:prstGeom>
          <a:solidFill>
            <a:srgbClr val="0E2A1F"/>
          </a:solidFill>
          <a:ln w="12700">
            <a:solidFill>
              <a:srgbClr val="0E2A1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226296" y="3931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8F2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Администратор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9226296" y="45720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+ пользователи и роли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Алгоритмы работы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10149840" y="50292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B8F25B"/>
          </a:solidFill>
          <a:ln w="12700">
            <a:solidFill>
              <a:srgbClr val="B8F25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149840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ПК 1.1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7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Нектар · Веников И.Н. · П-7-23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4173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Авторизация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548640" y="2011680"/>
            <a:ext cx="1920240" cy="1097280"/>
          </a:xfrm>
          <a:prstGeom prst="roundRect">
            <a:avLst>
              <a:gd name="adj" fmla="val 10000"/>
            </a:avLst>
          </a:prstGeom>
          <a:solidFill>
            <a:srgbClr val="0E2A1F"/>
          </a:solidFill>
          <a:ln w="19050">
            <a:solidFill>
              <a:srgbClr val="0E2A1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201168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 приложения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2468880" y="2560320"/>
            <a:ext cx="365760" cy="0"/>
          </a:xfrm>
          <a:prstGeom prst="line">
            <a:avLst/>
          </a:prstGeom>
          <a:noFill/>
          <a:ln w="25400">
            <a:solidFill>
              <a:srgbClr val="163A2A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834640" y="2011680"/>
            <a:ext cx="1920240" cy="1097280"/>
          </a:xfrm>
          <a:prstGeom prst="roundRect">
            <a:avLst>
              <a:gd name="adj" fmla="val 10000"/>
            </a:avLst>
          </a:prstGeom>
          <a:solidFill>
            <a:srgbClr val="EAF4E4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926080" y="201168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Экран приветствия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754880" y="2560320"/>
            <a:ext cx="365760" cy="0"/>
          </a:xfrm>
          <a:prstGeom prst="line">
            <a:avLst/>
          </a:prstGeom>
          <a:noFill/>
          <a:ln w="25400">
            <a:solidFill>
              <a:srgbClr val="163A2A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5120640" y="2011680"/>
            <a:ext cx="1920240" cy="1097280"/>
          </a:xfrm>
          <a:prstGeom prst="roundRect">
            <a:avLst>
              <a:gd name="adj" fmla="val 10000"/>
            </a:avLst>
          </a:prstGeom>
          <a:solidFill>
            <a:srgbClr val="EAF4E4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212080" y="201168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 или регистрация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040880" y="2560320"/>
            <a:ext cx="365760" cy="0"/>
          </a:xfrm>
          <a:prstGeom prst="line">
            <a:avLst/>
          </a:prstGeom>
          <a:noFill/>
          <a:ln w="25400">
            <a:solidFill>
              <a:srgbClr val="163A2A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7406640" y="2011680"/>
            <a:ext cx="1920240" cy="1097280"/>
          </a:xfrm>
          <a:prstGeom prst="roundRect">
            <a:avLst>
              <a:gd name="adj" fmla="val 10000"/>
            </a:avLst>
          </a:prstGeom>
          <a:solidFill>
            <a:srgbClr val="EAF4E4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498080" y="201168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в Firebase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9326880" y="2560320"/>
            <a:ext cx="365760" cy="0"/>
          </a:xfrm>
          <a:prstGeom prst="line">
            <a:avLst/>
          </a:prstGeom>
          <a:noFill/>
          <a:ln w="25400">
            <a:solidFill>
              <a:srgbClr val="163A2A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9692640" y="2011680"/>
            <a:ext cx="1920240" cy="1097280"/>
          </a:xfrm>
          <a:prstGeom prst="roundRect">
            <a:avLst>
              <a:gd name="adj" fmla="val 10000"/>
            </a:avLst>
          </a:prstGeom>
          <a:solidFill>
            <a:srgbClr val="B8F25B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784080" y="201168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Экран по роли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39319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Оформление заказа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548640" y="4526280"/>
            <a:ext cx="1920240" cy="1097280"/>
          </a:xfrm>
          <a:prstGeom prst="roundRect">
            <a:avLst>
              <a:gd name="adj" fmla="val 10000"/>
            </a:avLst>
          </a:prstGeom>
          <a:solidFill>
            <a:srgbClr val="0E2A1F"/>
          </a:solidFill>
          <a:ln w="19050">
            <a:solidFill>
              <a:srgbClr val="0E2A1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40080" y="452628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Корзина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2468880" y="5074920"/>
            <a:ext cx="365760" cy="0"/>
          </a:xfrm>
          <a:prstGeom prst="line">
            <a:avLst/>
          </a:prstGeom>
          <a:noFill/>
          <a:ln w="25400">
            <a:solidFill>
              <a:srgbClr val="163A2A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2834640" y="4526280"/>
            <a:ext cx="1920240" cy="1097280"/>
          </a:xfrm>
          <a:prstGeom prst="roundRect">
            <a:avLst>
              <a:gd name="adj" fmla="val 10000"/>
            </a:avLst>
          </a:prstGeom>
          <a:solidFill>
            <a:srgbClr val="EAF4E4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2926080" y="452628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Адрес, оплата, промокод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4754880" y="5074920"/>
            <a:ext cx="365760" cy="0"/>
          </a:xfrm>
          <a:prstGeom prst="line">
            <a:avLst/>
          </a:prstGeom>
          <a:noFill/>
          <a:ln w="25400">
            <a:solidFill>
              <a:srgbClr val="163A2A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5120640" y="4526280"/>
            <a:ext cx="1920240" cy="1097280"/>
          </a:xfrm>
          <a:prstGeom prst="roundRect">
            <a:avLst>
              <a:gd name="adj" fmla="val 10000"/>
            </a:avLst>
          </a:prstGeom>
          <a:solidFill>
            <a:srgbClr val="EAF4E4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212080" y="452628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остатков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7040880" y="5074920"/>
            <a:ext cx="365760" cy="0"/>
          </a:xfrm>
          <a:prstGeom prst="line">
            <a:avLst/>
          </a:prstGeom>
          <a:noFill/>
          <a:ln w="25400">
            <a:solidFill>
              <a:srgbClr val="163A2A"/>
            </a:solidFill>
            <a:prstDash val="solid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7406640" y="4526280"/>
            <a:ext cx="1920240" cy="1097280"/>
          </a:xfrm>
          <a:prstGeom prst="roundRect">
            <a:avLst>
              <a:gd name="adj" fmla="val 10000"/>
            </a:avLst>
          </a:prstGeom>
          <a:solidFill>
            <a:srgbClr val="EAF4E4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498080" y="452628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Списание, заказ «new»</a:t>
            </a:r>
            <a:endParaRPr lang="en-US" sz="1500" dirty="0"/>
          </a:p>
        </p:txBody>
      </p:sp>
      <p:sp>
        <p:nvSpPr>
          <p:cNvPr id="35" name="Shape 32"/>
          <p:cNvSpPr/>
          <p:nvPr/>
        </p:nvSpPr>
        <p:spPr>
          <a:xfrm>
            <a:off x="9326880" y="5074920"/>
            <a:ext cx="365760" cy="0"/>
          </a:xfrm>
          <a:prstGeom prst="line">
            <a:avLst/>
          </a:prstGeom>
          <a:noFill/>
          <a:ln w="25400">
            <a:solidFill>
              <a:srgbClr val="163A2A"/>
            </a:solidFill>
            <a:prstDash val="solid"/>
            <a:tailEnd type="triangle"/>
          </a:ln>
        </p:spPr>
      </p:sp>
      <p:sp>
        <p:nvSpPr>
          <p:cNvPr id="36" name="Shape 33"/>
          <p:cNvSpPr/>
          <p:nvPr/>
        </p:nvSpPr>
        <p:spPr>
          <a:xfrm>
            <a:off x="9692640" y="4526280"/>
            <a:ext cx="1920240" cy="1097280"/>
          </a:xfrm>
          <a:prstGeom prst="roundRect">
            <a:avLst>
              <a:gd name="adj" fmla="val 10000"/>
            </a:avLst>
          </a:prstGeom>
          <a:solidFill>
            <a:srgbClr val="B8F25B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9784080" y="452628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Заказ оформлен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Интерфейс мобильного приложения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10149840" y="50292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B8F25B"/>
          </a:solidFill>
          <a:ln w="12700">
            <a:solidFill>
              <a:srgbClr val="B8F25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149840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ПК 1.2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7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Нектар · Веников И.Н. · П-7-23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pic>
        <p:nvPicPr>
          <p:cNvPr id="8" name="Image 0" descr="a/p_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1816626" cy="43891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65760" y="5870448"/>
            <a:ext cx="21823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</a:t>
            </a:r>
            <a:endParaRPr lang="en-US" sz="1400" dirty="0"/>
          </a:p>
        </p:txBody>
      </p:sp>
      <p:pic>
        <p:nvPicPr>
          <p:cNvPr id="10" name="Image 1" descr="a/p_register_fill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1178" y="1371600"/>
            <a:ext cx="1816626" cy="43891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448298" y="5870448"/>
            <a:ext cx="21823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Регистрация</a:t>
            </a:r>
            <a:endParaRPr lang="en-US" sz="1400" dirty="0"/>
          </a:p>
        </p:txBody>
      </p:sp>
      <p:pic>
        <p:nvPicPr>
          <p:cNvPr id="12" name="Image 2" descr="a/p_sho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3716" y="1371600"/>
            <a:ext cx="1816626" cy="438912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6530836" y="5870448"/>
            <a:ext cx="21823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Магазин</a:t>
            </a:r>
            <a:endParaRPr lang="en-US" sz="1400" dirty="0"/>
          </a:p>
        </p:txBody>
      </p:sp>
      <p:pic>
        <p:nvPicPr>
          <p:cNvPr id="14" name="Image 3" descr="a/p_catalo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6254" y="1371600"/>
            <a:ext cx="1816626" cy="438912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9613374" y="5870448"/>
            <a:ext cx="21823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Оформление заказа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10149840" y="50292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B8F25B"/>
          </a:solidFill>
          <a:ln w="12700">
            <a:solidFill>
              <a:srgbClr val="B8F25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149840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ПК 1.2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7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Нектар · Веников И.Н. · П-7-23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645920"/>
            <a:ext cx="731520" cy="7315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1554480" y="16002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Добавляем товар в корзину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548640" y="3108960"/>
            <a:ext cx="731520" cy="7315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3108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1554480" y="30632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Выбираем адрес, оплату и промокод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548640" y="4572000"/>
            <a:ext cx="731520" cy="7315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4572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1554480" y="45262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Получаем подтверждение</a:t>
            </a:r>
            <a:endParaRPr lang="en-US" sz="2000" dirty="0"/>
          </a:p>
        </p:txBody>
      </p:sp>
      <p:pic>
        <p:nvPicPr>
          <p:cNvPr id="17" name="Image 0" descr="a/p_c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1371600"/>
            <a:ext cx="1854472" cy="448056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4846320" y="5943600"/>
            <a:ext cx="240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Корзина</a:t>
            </a:r>
            <a:endParaRPr lang="en-US" sz="1400" dirty="0"/>
          </a:p>
        </p:txBody>
      </p:sp>
      <p:pic>
        <p:nvPicPr>
          <p:cNvPr id="19" name="Image 1" descr="a/p_checkout_prom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2312" y="1371600"/>
            <a:ext cx="1854472" cy="448056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157992" y="5943600"/>
            <a:ext cx="240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Оформление</a:t>
            </a:r>
            <a:endParaRPr lang="en-US" sz="1400" dirty="0"/>
          </a:p>
        </p:txBody>
      </p:sp>
      <p:pic>
        <p:nvPicPr>
          <p:cNvPr id="21" name="Image 2" descr="a/p_order_succes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3984" y="1371600"/>
            <a:ext cx="1854472" cy="44805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469664" y="5943600"/>
            <a:ext cx="240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Готово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Веб-панель администратора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10149840" y="50292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B8F25B"/>
          </a:solidFill>
          <a:ln w="12700">
            <a:solidFill>
              <a:srgbClr val="B8F25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149840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ПК 1.2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7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Нектар · Веников И.Н. · П-7-23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pic>
        <p:nvPicPr>
          <p:cNvPr id="8" name="Image 0" descr="a/b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1371600"/>
            <a:ext cx="3566160" cy="234460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1463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Дашборд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19202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Показатели магазина</a:t>
            </a:r>
            <a:endParaRPr lang="en-US" sz="1600" dirty="0"/>
          </a:p>
        </p:txBody>
      </p:sp>
      <p:pic>
        <p:nvPicPr>
          <p:cNvPr id="11" name="Image 1" descr="a/b_produc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371600"/>
            <a:ext cx="3566160" cy="234460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48640" y="2651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Товары</a:t>
            </a:r>
            <a:endParaRPr lang="en-US" sz="2000" dirty="0"/>
          </a:p>
        </p:txBody>
      </p:sp>
      <p:sp>
        <p:nvSpPr>
          <p:cNvPr id="13" name="Text 8"/>
          <p:cNvSpPr txBox="1"/>
          <p:nvPr/>
        </p:nvSpPr>
        <p:spPr>
          <a:xfrm>
            <a:off x="548640" y="31089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 и остатки</a:t>
            </a:r>
            <a:endParaRPr lang="en-US" sz="1600" dirty="0"/>
          </a:p>
        </p:txBody>
      </p:sp>
      <p:pic>
        <p:nvPicPr>
          <p:cNvPr id="14" name="Image 2" descr="a/b_ord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3977640"/>
            <a:ext cx="3566160" cy="234460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48640" y="3840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Заказы</a:t>
            </a:r>
            <a:endParaRPr lang="en-US" sz="2000" dirty="0"/>
          </a:p>
        </p:txBody>
      </p:sp>
      <p:sp>
        <p:nvSpPr>
          <p:cNvPr id="16" name="Text 10"/>
          <p:cNvSpPr txBox="1"/>
          <p:nvPr/>
        </p:nvSpPr>
        <p:spPr>
          <a:xfrm>
            <a:off x="548640" y="42976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 и курьер</a:t>
            </a:r>
            <a:endParaRPr lang="en-US" sz="1600" dirty="0"/>
          </a:p>
        </p:txBody>
      </p:sp>
      <p:pic>
        <p:nvPicPr>
          <p:cNvPr id="17" name="Image 3" descr="a/b_prom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3977640"/>
            <a:ext cx="3566160" cy="234460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548640" y="5029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Промокоды</a:t>
            </a:r>
            <a:endParaRPr lang="en-US" sz="2000" dirty="0"/>
          </a:p>
        </p:txBody>
      </p:sp>
      <p:sp>
        <p:nvSpPr>
          <p:cNvPr id="19" name="Text 12"/>
          <p:cNvSpPr txBox="1"/>
          <p:nvPr/>
        </p:nvSpPr>
        <p:spPr>
          <a:xfrm>
            <a:off x="548640" y="54864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Скидки для клиентов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Отладка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10149840" y="50292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B8F25B"/>
          </a:solidFill>
          <a:ln w="12700">
            <a:solidFill>
              <a:srgbClr val="B8F25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149840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ПК 1.3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7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Нектар · Веников И.Н. · П-7-23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8" name="Image 0" descr="../pz/t_analyz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6035040" cy="1942366"/>
          </a:xfrm>
          <a:prstGeom prst="rect">
            <a:avLst/>
          </a:prstGeom>
        </p:spPr>
      </p:pic>
      <p:pic>
        <p:nvPicPr>
          <p:cNvPr id="9" name="Image 1" descr="../pz/t_rul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57600"/>
            <a:ext cx="6035040" cy="209798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7040880" y="1463040"/>
            <a:ext cx="2194560" cy="4206240"/>
          </a:xfrm>
          <a:prstGeom prst="roundRect">
            <a:avLst>
              <a:gd name="adj" fmla="val 6250"/>
            </a:avLst>
          </a:prstGeom>
          <a:solidFill>
            <a:srgbClr val="0E2A1F"/>
          </a:solidFill>
          <a:ln w="12700">
            <a:solidFill>
              <a:srgbClr val="0E2A1F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7132320" y="1737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8F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analyze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7040880" y="23774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8000" dirty="0"/>
          </a:p>
        </p:txBody>
      </p:sp>
      <p:sp>
        <p:nvSpPr>
          <p:cNvPr id="13" name="Text 8"/>
          <p:cNvSpPr txBox="1"/>
          <p:nvPr/>
        </p:nvSpPr>
        <p:spPr>
          <a:xfrm>
            <a:off x="7040880" y="3931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замечаний</a:t>
            </a:r>
            <a:endParaRPr lang="en-US" sz="1600" dirty="0"/>
          </a:p>
        </p:txBody>
      </p:sp>
      <p:pic>
        <p:nvPicPr>
          <p:cNvPr id="14" name="Image 2" descr="a/p_login_er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1463040"/>
            <a:ext cx="1737360" cy="419760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9326880" y="5760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7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Понятное сообщение об ошибке входа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Тестирование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10149840" y="50292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B8F25B"/>
          </a:solidFill>
          <a:ln w="12700">
            <a:solidFill>
              <a:srgbClr val="B8F25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149840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ПК 1.4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7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Нектар · Веников И.Н. · П-7-23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463040"/>
            <a:ext cx="3566160" cy="2377440"/>
          </a:xfrm>
          <a:prstGeom prst="roundRect">
            <a:avLst>
              <a:gd name="adj" fmla="val 5769"/>
            </a:avLst>
          </a:prstGeom>
          <a:solidFill>
            <a:srgbClr val="0E2A1F"/>
          </a:solidFill>
          <a:ln w="12700">
            <a:solidFill>
              <a:srgbClr val="0E2A1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160020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B8F2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</a:t>
            </a:r>
            <a:endParaRPr lang="en-US" sz="8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0632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тестов приложения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297680" y="1463040"/>
            <a:ext cx="3566160" cy="2377440"/>
          </a:xfrm>
          <a:prstGeom prst="roundRect">
            <a:avLst>
              <a:gd name="adj" fmla="val 5769"/>
            </a:avLst>
          </a:prstGeom>
          <a:solidFill>
            <a:srgbClr val="EAF4E4"/>
          </a:solidFill>
          <a:ln w="12700">
            <a:solidFill>
              <a:srgbClr val="EAF4E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297680" y="160020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8000" dirty="0"/>
          </a:p>
        </p:txBody>
      </p:sp>
      <p:sp>
        <p:nvSpPr>
          <p:cNvPr id="13" name="Text 10"/>
          <p:cNvSpPr txBox="1"/>
          <p:nvPr/>
        </p:nvSpPr>
        <p:spPr>
          <a:xfrm>
            <a:off x="4297680" y="30632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тестов правил безопасности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8046720" y="1463040"/>
            <a:ext cx="3566160" cy="2377440"/>
          </a:xfrm>
          <a:prstGeom prst="roundRect">
            <a:avLst>
              <a:gd name="adj" fmla="val 5769"/>
            </a:avLst>
          </a:prstGeom>
          <a:solidFill>
            <a:srgbClr val="EAF4E4"/>
          </a:solidFill>
          <a:ln w="12700">
            <a:solidFill>
              <a:srgbClr val="EAF4E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046720" y="160020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8000" dirty="0"/>
          </a:p>
        </p:txBody>
      </p:sp>
      <p:sp>
        <p:nvSpPr>
          <p:cNvPr id="16" name="Text 13"/>
          <p:cNvSpPr txBox="1"/>
          <p:nvPr/>
        </p:nvSpPr>
        <p:spPr>
          <a:xfrm>
            <a:off x="8046720" y="30632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 веб-панели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48640" y="4114800"/>
            <a:ext cx="544068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8640" y="4114800"/>
            <a:ext cx="544068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2960" y="43434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Ручное тестирование</a:t>
            </a:r>
            <a:endParaRPr lang="en-US" sz="22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" y="49377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Функции всех ролей: покупатель, курьер, менеджер, администратор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6172200" y="4114800"/>
            <a:ext cx="544068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172200" y="4114800"/>
            <a:ext cx="544068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46520" y="43434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Автоматические тесты</a:t>
            </a:r>
            <a:endParaRPr lang="en-US" sz="2200" dirty="0"/>
          </a:p>
        </p:txBody>
      </p:sp>
      <p:sp>
        <p:nvSpPr>
          <p:cNvPr id="24" name="Text 21"/>
          <p:cNvSpPr txBox="1"/>
          <p:nvPr/>
        </p:nvSpPr>
        <p:spPr>
          <a:xfrm>
            <a:off x="6446520" y="49377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137 тестов пройдены, ошибок нет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Рефакторинг и оптимизация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10149840" y="50292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B8F25B"/>
          </a:solidFill>
          <a:ln w="12700">
            <a:solidFill>
              <a:srgbClr val="B8F25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149840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ПК 1.5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7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Нектар · Веников И.Н. · П-7-23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pic>
        <p:nvPicPr>
          <p:cNvPr id="8" name="Image 0" descr="../pz/r_pric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5486400" cy="2552169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4114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7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utils/pricing.dart: расчёт доставки и итога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400800" y="1463040"/>
            <a:ext cx="2514600" cy="2148840"/>
          </a:xfrm>
          <a:prstGeom prst="roundRect">
            <a:avLst>
              <a:gd name="adj" fmla="val 6383"/>
            </a:avLst>
          </a:prstGeom>
          <a:solidFill>
            <a:srgbClr val="EAF4E4"/>
          </a:solidFill>
          <a:ln w="12700">
            <a:solidFill>
              <a:srgbClr val="EAF4E4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583680" y="16459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Чистые функции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6583680" y="246888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Логика вне экранов, проверяется тестами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9052560" y="1463040"/>
            <a:ext cx="2514600" cy="2148840"/>
          </a:xfrm>
          <a:prstGeom prst="roundRect">
            <a:avLst>
              <a:gd name="adj" fmla="val 6383"/>
            </a:avLst>
          </a:prstGeom>
          <a:solidFill>
            <a:srgbClr val="EAF4E4"/>
          </a:solidFill>
          <a:ln w="12700">
            <a:solidFill>
              <a:srgbClr val="EAF4E4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9235440" y="16459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Транзакции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9235440" y="246888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Заказ создаётся целиком или не создаётся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6400800" y="3794760"/>
            <a:ext cx="2514600" cy="2148840"/>
          </a:xfrm>
          <a:prstGeom prst="roundRect">
            <a:avLst>
              <a:gd name="adj" fmla="val 6383"/>
            </a:avLst>
          </a:prstGeom>
          <a:solidFill>
            <a:srgbClr val="EAF4E4"/>
          </a:solidFill>
          <a:ln w="12700">
            <a:solidFill>
              <a:srgbClr val="EAF4E4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583680" y="397764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Пакеты по 400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6583680" y="480060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Массовое удаление без перегрузки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9052560" y="3794760"/>
            <a:ext cx="2514600" cy="2148840"/>
          </a:xfrm>
          <a:prstGeom prst="roundRect">
            <a:avLst>
              <a:gd name="adj" fmla="val 6383"/>
            </a:avLst>
          </a:prstGeom>
          <a:solidFill>
            <a:srgbClr val="EAF4E4"/>
          </a:solidFill>
          <a:ln w="12700">
            <a:solidFill>
              <a:srgbClr val="EAF4E4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9235440" y="397764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Простые запросы</a:t>
            </a:r>
            <a:endParaRPr lang="en-US" sz="1800" dirty="0"/>
          </a:p>
        </p:txBody>
      </p:sp>
      <p:sp>
        <p:nvSpPr>
          <p:cNvPr id="21" name="Text 17"/>
          <p:cNvSpPr txBox="1"/>
          <p:nvPr/>
        </p:nvSpPr>
        <p:spPr>
          <a:xfrm>
            <a:off x="9235440" y="480060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составных индексов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Мобильная разработка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10149840" y="50292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B8F25B"/>
          </a:solidFill>
          <a:ln w="12700">
            <a:solidFill>
              <a:srgbClr val="B8F25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149840" y="502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ПК 1.6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7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Нектар · Веников И.Н. · П-7-23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463040"/>
            <a:ext cx="5440680" cy="2103120"/>
          </a:xfrm>
          <a:prstGeom prst="roundRect">
            <a:avLst>
              <a:gd name="adj" fmla="val 6522"/>
            </a:avLst>
          </a:prstGeom>
          <a:solidFill>
            <a:srgbClr val="EAF4E4"/>
          </a:solidFill>
          <a:ln w="12700">
            <a:solidFill>
              <a:srgbClr val="EAF4E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1828800" y="173736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Flutter и Dart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26974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Мобильное приложение для Android и iOS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172200" y="1463040"/>
            <a:ext cx="5440680" cy="2103120"/>
          </a:xfrm>
          <a:prstGeom prst="roundRect">
            <a:avLst>
              <a:gd name="adj" fmla="val 6522"/>
            </a:avLst>
          </a:prstGeom>
          <a:solidFill>
            <a:srgbClr val="EAF4E4"/>
          </a:solidFill>
          <a:ln w="12700">
            <a:solidFill>
              <a:srgbClr val="EAF4E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46520" y="1737360"/>
            <a:ext cx="731520" cy="7315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4652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7452360" y="173736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Firebase Authentication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26974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Регистрация и вход по email и Google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548640" y="3840480"/>
            <a:ext cx="5440680" cy="2103120"/>
          </a:xfrm>
          <a:prstGeom prst="roundRect">
            <a:avLst>
              <a:gd name="adj" fmla="val 6522"/>
            </a:avLst>
          </a:prstGeom>
          <a:solidFill>
            <a:srgbClr val="EAF4E4"/>
          </a:solidFill>
          <a:ln w="12700">
            <a:solidFill>
              <a:srgbClr val="EAF4E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22960" y="4114800"/>
            <a:ext cx="731520" cy="7315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22960" y="4114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21" name="Text 18"/>
          <p:cNvSpPr txBox="1"/>
          <p:nvPr/>
        </p:nvSpPr>
        <p:spPr>
          <a:xfrm>
            <a:off x="1828800" y="411480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Firestore</a:t>
            </a:r>
            <a:endParaRPr lang="en-US" sz="24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" y="50749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данных и правила безопасности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6172200" y="3840480"/>
            <a:ext cx="5440680" cy="2103120"/>
          </a:xfrm>
          <a:prstGeom prst="roundRect">
            <a:avLst>
              <a:gd name="adj" fmla="val 6522"/>
            </a:avLst>
          </a:prstGeom>
          <a:solidFill>
            <a:srgbClr val="EAF4E4"/>
          </a:solidFill>
          <a:ln w="12700">
            <a:solidFill>
              <a:srgbClr val="EAF4E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446520" y="4114800"/>
            <a:ext cx="731520" cy="7315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446520" y="4114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6" name="Text 23"/>
          <p:cNvSpPr txBox="1"/>
          <p:nvPr/>
        </p:nvSpPr>
        <p:spPr>
          <a:xfrm>
            <a:off x="7452360" y="411480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</a:t>
            </a:r>
            <a:endParaRPr lang="en-US" sz="2400" dirty="0"/>
          </a:p>
        </p:txBody>
      </p:sp>
      <p:sp>
        <p:nvSpPr>
          <p:cNvPr id="27" name="Text 24"/>
          <p:cNvSpPr txBox="1"/>
          <p:nvPr/>
        </p:nvSpPr>
        <p:spPr>
          <a:xfrm>
            <a:off x="6446520" y="50749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Веб-панель на Firebase Hosting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2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Результат работы приложения</a:t>
            </a:r>
            <a:endParaRPr lang="en-US" sz="300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615288" y="1188720"/>
            <a:ext cx="8961120" cy="504063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9C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2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949440" y="-914400"/>
            <a:ext cx="7315200" cy="7315200"/>
          </a:xfrm>
          <a:prstGeom prst="ellipse">
            <a:avLst/>
          </a:prstGeom>
          <a:solidFill>
            <a:srgbClr val="163A2A"/>
          </a:solidFill>
          <a:ln w="12700">
            <a:solidFill>
              <a:srgbClr val="163A2A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31520" y="1737360"/>
            <a:ext cx="6400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B8F2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Спасибо</a:t>
            </a:r>
            <a:endParaRPr lang="en-US" sz="6400" dirty="0"/>
          </a:p>
          <a:p>
            <a:pPr indent="0" marL="0">
              <a:buNone/>
            </a:pPr>
            <a:r>
              <a:rPr lang="en-US" sz="6400" b="1" dirty="0">
                <a:solidFill>
                  <a:srgbClr val="B8F2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 внимание!</a:t>
            </a:r>
            <a:endParaRPr lang="en-US" sz="6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45720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Веников Иван Николаевич, группа П-7-23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Руководитель: Парамонова Е.М.</a:t>
            </a:r>
            <a:endParaRPr lang="en-US" sz="2000" dirty="0"/>
          </a:p>
        </p:txBody>
      </p:sp>
      <p:pic>
        <p:nvPicPr>
          <p:cNvPr id="6" name="Image 0" descr="a/p_order_suc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914400"/>
            <a:ext cx="2377440" cy="57440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Нектар — интернет-магазин продуктов</dc:title>
  <dc:subject>PptxGenJS Presentation</dc:subject>
  <dc:creator>Веников И.Н.</dc:creator>
  <cp:lastModifiedBy>Веников И.Н.</cp:lastModifiedBy>
  <cp:revision>1</cp:revision>
  <dcterms:created xsi:type="dcterms:W3CDTF">2026-10-01T22:05:52Z</dcterms:created>
  <dcterms:modified xsi:type="dcterms:W3CDTF">2026-10-01T22:05:52Z</dcterms:modified>
</cp:coreProperties>
</file>